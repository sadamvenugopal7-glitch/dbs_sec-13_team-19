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Lst>
  <p:sldSz cx="12193588"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1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38080" y="365040"/>
            <a:ext cx="10515600" cy="1325520"/>
          </a:xfrm>
          <a:prstGeom prst="rect">
            <a:avLst/>
          </a:prstGeom>
          <a:noFill/>
          <a:ln w="0">
            <a:noFill/>
          </a:ln>
        </p:spPr>
        <p:txBody>
          <a:bodyPr lIns="90000" tIns="46800" rIns="90000" bIns="4680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0000"/>
                </a:solidFill>
                <a:effectLst/>
                <a:uFillTx/>
                <a:latin typeface="Calibri Light"/>
              </a:rPr>
              <a:t>Click to edit the title text format</a:t>
            </a:r>
          </a:p>
        </p:txBody>
      </p:sp>
      <p:sp>
        <p:nvSpPr>
          <p:cNvPr id="9" name="PlaceHolder 2"/>
          <p:cNvSpPr>
            <a:spLocks noGrp="1"/>
          </p:cNvSpPr>
          <p:nvPr>
            <p:ph type="body"/>
          </p:nvPr>
        </p:nvSpPr>
        <p:spPr>
          <a:xfrm>
            <a:off x="838080" y="1825200"/>
            <a:ext cx="10515600" cy="4351320"/>
          </a:xfrm>
          <a:prstGeom prst="rect">
            <a:avLst/>
          </a:prstGeom>
          <a:noFill/>
          <a:ln w="0">
            <a:noFill/>
          </a:ln>
        </p:spPr>
        <p:txBody>
          <a:bodyPr lIns="90000" tIns="46800" rIns="90000" bIns="46800" anchor="t">
            <a:normAutofit/>
          </a:bodyPr>
          <a:lstStyle/>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Click to edit the outline text format</a:t>
            </a:r>
          </a:p>
          <a:p>
            <a:pPr marL="685800" lvl="1"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Second Outline Level</a:t>
            </a:r>
          </a:p>
          <a:p>
            <a:pPr marL="1143000" lvl="2"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Third Outline Level</a:t>
            </a:r>
          </a:p>
          <a:p>
            <a:pPr marL="1600200" lvl="3"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Fourth Outline Level</a:t>
            </a:r>
          </a:p>
          <a:p>
            <a:pPr marL="2057400" lvl="4"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Fifth Outline Level</a:t>
            </a:r>
          </a:p>
          <a:p>
            <a:pPr marL="2057400" lvl="5"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Sixth Outline Level</a:t>
            </a:r>
          </a:p>
          <a:p>
            <a:pPr marL="2057400" lvl="6"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Seventh Outline Level</a:t>
            </a:r>
          </a:p>
        </p:txBody>
      </p:sp>
      <p:sp>
        <p:nvSpPr>
          <p:cNvPr id="2" name="PlaceHolder 3"/>
          <p:cNvSpPr>
            <a:spLocks noGrp="1"/>
          </p:cNvSpPr>
          <p:nvPr>
            <p:ph type="dt" idx="1"/>
          </p:nvPr>
        </p:nvSpPr>
        <p:spPr>
          <a:xfrm>
            <a:off x="838080" y="6356520"/>
            <a:ext cx="2743200" cy="365040"/>
          </a:xfrm>
          <a:prstGeom prst="rect">
            <a:avLst/>
          </a:prstGeom>
          <a:noFill/>
          <a:ln w="0">
            <a:noFill/>
          </a:ln>
        </p:spPr>
        <p:txBody>
          <a:bodyPr lIns="91440" tIns="45720" rIns="91440" bIns="45720" anchor="ctr">
            <a:noAutofit/>
          </a:bodyPr>
          <a:lstStyle>
            <a:lvl1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0" u="none" strike="noStrike">
                <a:solidFill>
                  <a:srgbClr val="898989"/>
                </a:solidFill>
                <a:effectLst/>
                <a:uFillTx/>
                <a:latin typeface="Times New Roman"/>
              </a:defRPr>
            </a:lvl1p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6DEE5AF-0CED-46E0-9E0A-55734EEB7EFD}" type="datetime">
              <a:rPr lang="en-IN" sz="1200" b="0" u="none" strike="noStrike">
                <a:solidFill>
                  <a:srgbClr val="898989"/>
                </a:solidFill>
                <a:effectLst/>
                <a:uFillTx/>
                <a:latin typeface="Times New Roman"/>
              </a:rPr>
              <a:t>26-08-2026</a:t>
            </a:fld>
            <a:endParaRPr lang="en-US" sz="1200" b="0" u="none" strike="noStrike">
              <a:solidFill>
                <a:srgbClr val="000000"/>
              </a:solidFill>
              <a:effectLst/>
              <a:uFillTx/>
              <a:latin typeface="Times New Roman"/>
            </a:endParaRPr>
          </a:p>
        </p:txBody>
      </p:sp>
      <p:sp>
        <p:nvSpPr>
          <p:cNvPr id="3" name="PlaceHolder 4"/>
          <p:cNvSpPr>
            <a:spLocks noGrp="1"/>
          </p:cNvSpPr>
          <p:nvPr>
            <p:ph type="ftr" idx="2"/>
          </p:nvPr>
        </p:nvSpPr>
        <p:spPr>
          <a:xfrm>
            <a:off x="4038480" y="6356520"/>
            <a:ext cx="4114800" cy="365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4" name="PlaceHolder 5"/>
          <p:cNvSpPr>
            <a:spLocks noGrp="1"/>
          </p:cNvSpPr>
          <p:nvPr>
            <p:ph type="sldNum" idx="3"/>
          </p:nvPr>
        </p:nvSpPr>
        <p:spPr>
          <a:xfrm>
            <a:off x="9067680" y="6176880"/>
            <a:ext cx="2743200" cy="365040"/>
          </a:xfrm>
          <a:prstGeom prst="rect">
            <a:avLst/>
          </a:prstGeom>
          <a:noFill/>
          <a:ln w="0">
            <a:noFill/>
          </a:ln>
        </p:spPr>
        <p:txBody>
          <a:bodyPr lIns="91440" tIns="45720" rIns="91440" bIns="45720" anchor="ctr">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1" u="none" strike="noStrike">
                <a:solidFill>
                  <a:srgbClr val="C00000"/>
                </a:solidFill>
                <a:effectLst/>
                <a:uFillTx/>
                <a:latin typeface="Times New Roman"/>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6FEADF7-E49F-4DB3-B289-C4346E292B66}" type="slidenum">
              <a:rPr lang="en-IN" sz="1200" b="1" u="none" strike="noStrike">
                <a:solidFill>
                  <a:srgbClr val="C00000"/>
                </a:solidFill>
                <a:effectLst/>
                <a:uFillTx/>
                <a:latin typeface="Times New Roman"/>
              </a:rPr>
              <a:t>‹#›</a:t>
            </a:fld>
            <a:endParaRPr lang="en-US" sz="1200" b="0" u="none" strike="noStrike">
              <a:solidFill>
                <a:srgbClr val="000000"/>
              </a:solidFill>
              <a:effectLst/>
              <a:uFillTx/>
              <a:latin typeface="Times New Roman"/>
            </a:endParaRPr>
          </a:p>
        </p:txBody>
      </p:sp>
      <p:sp>
        <p:nvSpPr>
          <p:cNvPr id="5" name="Rectangle 6"/>
          <p:cNvSpPr/>
          <p:nvPr/>
        </p:nvSpPr>
        <p:spPr>
          <a:xfrm>
            <a:off x="0" y="0"/>
            <a:ext cx="12192120" cy="24120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6" name="Rectangle 7"/>
          <p:cNvSpPr/>
          <p:nvPr/>
        </p:nvSpPr>
        <p:spPr>
          <a:xfrm>
            <a:off x="0" y="6553080"/>
            <a:ext cx="12192120" cy="314280"/>
          </a:xfrm>
          <a:prstGeom prst="rect">
            <a:avLst/>
          </a:prstGeom>
          <a:solidFill>
            <a:srgbClr val="5B9BD5"/>
          </a:solidFill>
          <a:ln w="12600">
            <a:solidFill>
              <a:srgbClr val="FFD966"/>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800" b="0" u="none" strike="noStrike">
                <a:solidFill>
                  <a:srgbClr val="000000"/>
                </a:solidFill>
                <a:effectLst/>
                <a:uFillTx/>
                <a:latin typeface="Calibri"/>
              </a:rPr>
              <a:t>MRCET | Department of Emerging Technologies | Application Development-II PPT| III Year B.Tech-II Semester</a:t>
            </a:r>
            <a:endParaRPr lang="en-US" sz="1800" b="0" u="none" strike="noStrike">
              <a:solidFill>
                <a:srgbClr val="000000"/>
              </a:solidFill>
              <a:effectLst/>
              <a:uFillTx/>
              <a:latin typeface="Calibri"/>
            </a:endParaRPr>
          </a:p>
        </p:txBody>
      </p:sp>
      <p:pic>
        <p:nvPicPr>
          <p:cNvPr id="7" name="Picture 8"/>
          <p:cNvPicPr/>
          <p:nvPr/>
        </p:nvPicPr>
        <p:blipFill>
          <a:blip r:embed="rId2"/>
          <a:stretch/>
        </p:blipFill>
        <p:spPr>
          <a:xfrm>
            <a:off x="11353680" y="0"/>
            <a:ext cx="822600" cy="822240"/>
          </a:xfrm>
          <a:prstGeom prst="rect">
            <a:avLst/>
          </a:prstGeom>
          <a:noFill/>
          <a:ln w="0">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Title1">
    <p:bg>
      <p:bgPr>
        <a:solidFill>
          <a:srgbClr val="FFFFFF"/>
        </a:solidFill>
        <a:effectLst/>
      </p:bgPr>
    </p:bg>
    <p:spTree>
      <p:nvGrpSpPr>
        <p:cNvPr id="1" name=""/>
        <p:cNvGrpSpPr/>
        <p:nvPr/>
      </p:nvGrpSpPr>
      <p:grpSpPr>
        <a:xfrm>
          <a:off x="0" y="0"/>
          <a:ext cx="0" cy="0"/>
          <a:chOff x="0" y="0"/>
          <a:chExt cx="0" cy="0"/>
        </a:xfrm>
      </p:grpSpPr>
      <p:sp>
        <p:nvSpPr>
          <p:cNvPr id="8" name="Rectangle 6"/>
          <p:cNvSpPr/>
          <p:nvPr/>
        </p:nvSpPr>
        <p:spPr>
          <a:xfrm>
            <a:off x="0" y="0"/>
            <a:ext cx="12192120" cy="24120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9" name="Rectangle 7"/>
          <p:cNvSpPr/>
          <p:nvPr/>
        </p:nvSpPr>
        <p:spPr>
          <a:xfrm>
            <a:off x="0" y="6553080"/>
            <a:ext cx="12192120" cy="314280"/>
          </a:xfrm>
          <a:prstGeom prst="rect">
            <a:avLst/>
          </a:prstGeom>
          <a:solidFill>
            <a:srgbClr val="5B9BD5"/>
          </a:solidFill>
          <a:ln w="12600">
            <a:solidFill>
              <a:srgbClr val="FFD966"/>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800" b="0" u="none" strike="noStrike">
                <a:solidFill>
                  <a:srgbClr val="000000"/>
                </a:solidFill>
                <a:effectLst/>
                <a:uFillTx/>
                <a:latin typeface="Calibri"/>
              </a:rPr>
              <a:t>MRCET | Department of Emerging Technologies | Application Development-II PPT| III Year B.Tech-II Semester</a:t>
            </a:r>
            <a:endParaRPr lang="en-US" sz="1800" b="0" u="none" strike="noStrike">
              <a:solidFill>
                <a:srgbClr val="000000"/>
              </a:solidFill>
              <a:effectLst/>
              <a:uFillTx/>
              <a:latin typeface="Calibri"/>
            </a:endParaRPr>
          </a:p>
        </p:txBody>
      </p:sp>
      <p:pic>
        <p:nvPicPr>
          <p:cNvPr id="10" name="Picture 8"/>
          <p:cNvPicPr/>
          <p:nvPr/>
        </p:nvPicPr>
        <p:blipFill>
          <a:blip r:embed="rId2"/>
          <a:stretch/>
        </p:blipFill>
        <p:spPr>
          <a:xfrm>
            <a:off x="11353680" y="0"/>
            <a:ext cx="822600" cy="822240"/>
          </a:xfrm>
          <a:prstGeom prst="rect">
            <a:avLst/>
          </a:prstGeom>
          <a:noFill/>
          <a:ln w="0">
            <a:noFill/>
          </a:ln>
        </p:spPr>
      </p:pic>
      <p:sp>
        <p:nvSpPr>
          <p:cNvPr id="11" name="Rectangle 1"/>
          <p:cNvSpPr/>
          <p:nvPr/>
        </p:nvSpPr>
        <p:spPr>
          <a:xfrm>
            <a:off x="0" y="0"/>
            <a:ext cx="12192120" cy="24120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2" name="Rectangle 2"/>
          <p:cNvSpPr/>
          <p:nvPr/>
        </p:nvSpPr>
        <p:spPr>
          <a:xfrm>
            <a:off x="0" y="6553080"/>
            <a:ext cx="12192120" cy="314280"/>
          </a:xfrm>
          <a:prstGeom prst="rect">
            <a:avLst/>
          </a:prstGeom>
          <a:solidFill>
            <a:srgbClr val="5B9BD5"/>
          </a:solidFill>
          <a:ln w="12600">
            <a:solidFill>
              <a:srgbClr val="FFD966"/>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800" b="0" u="none" strike="noStrike">
                <a:solidFill>
                  <a:srgbClr val="000000"/>
                </a:solidFill>
                <a:effectLst/>
                <a:uFillTx/>
                <a:latin typeface="Calibri"/>
              </a:rPr>
              <a:t>MRCET | Department of Emerging Technologies | Application Development-II PPT| III Year B.Tech-II Semester</a:t>
            </a:r>
            <a:endParaRPr lang="en-US" sz="1800" b="0" u="none" strike="noStrike">
              <a:solidFill>
                <a:srgbClr val="000000"/>
              </a:solidFill>
              <a:effectLst/>
              <a:uFillTx/>
              <a:latin typeface="Calibri"/>
            </a:endParaRPr>
          </a:p>
        </p:txBody>
      </p:sp>
      <p:pic>
        <p:nvPicPr>
          <p:cNvPr id="13" name="Picture 11"/>
          <p:cNvPicPr/>
          <p:nvPr/>
        </p:nvPicPr>
        <p:blipFill>
          <a:blip r:embed="rId2"/>
          <a:stretch/>
        </p:blipFill>
        <p:spPr>
          <a:xfrm>
            <a:off x="11353680" y="0"/>
            <a:ext cx="822600" cy="822240"/>
          </a:xfrm>
          <a:prstGeom prst="rect">
            <a:avLst/>
          </a:prstGeom>
          <a:noFill/>
          <a:ln w="0">
            <a:noFill/>
          </a:ln>
        </p:spPr>
      </p:pic>
      <p:sp>
        <p:nvSpPr>
          <p:cNvPr id="14" name="PlaceHolder 1"/>
          <p:cNvSpPr>
            <a:spLocks noGrp="1"/>
          </p:cNvSpPr>
          <p:nvPr>
            <p:ph type="title"/>
          </p:nvPr>
        </p:nvSpPr>
        <p:spPr>
          <a:xfrm>
            <a:off x="838080" y="365040"/>
            <a:ext cx="10515600" cy="1325520"/>
          </a:xfrm>
          <a:prstGeom prst="rect">
            <a:avLst/>
          </a:prstGeom>
          <a:noFill/>
          <a:ln w="0">
            <a:noFill/>
          </a:ln>
        </p:spPr>
        <p:txBody>
          <a:bodyPr lIns="90000" tIns="46800" rIns="90000" bIns="4680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0000"/>
                </a:solidFill>
                <a:effectLst/>
                <a:uFillTx/>
                <a:latin typeface="Calibri Light"/>
              </a:rPr>
              <a:t>Click to edit the title text format</a:t>
            </a:r>
          </a:p>
        </p:txBody>
      </p:sp>
      <p:sp>
        <p:nvSpPr>
          <p:cNvPr id="15" name="PlaceHolder 2"/>
          <p:cNvSpPr>
            <a:spLocks noGrp="1"/>
          </p:cNvSpPr>
          <p:nvPr>
            <p:ph type="body"/>
          </p:nvPr>
        </p:nvSpPr>
        <p:spPr>
          <a:xfrm>
            <a:off x="838080" y="1825200"/>
            <a:ext cx="10515600" cy="4351320"/>
          </a:xfrm>
          <a:prstGeom prst="rect">
            <a:avLst/>
          </a:prstGeom>
          <a:noFill/>
          <a:ln w="0">
            <a:noFill/>
          </a:ln>
        </p:spPr>
        <p:txBody>
          <a:bodyPr lIns="90000" tIns="46800" rIns="90000" bIns="46800" anchor="t">
            <a:normAutofit/>
          </a:bodyPr>
          <a:lstStyle/>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Click to edit the outline text format</a:t>
            </a:r>
          </a:p>
          <a:p>
            <a:pPr marL="685800" lvl="1"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Second Outline Level</a:t>
            </a:r>
          </a:p>
          <a:p>
            <a:pPr marL="1143000" lvl="2"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Third Outline Level</a:t>
            </a:r>
          </a:p>
          <a:p>
            <a:pPr marL="1600200" lvl="3"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Fourth Outline Level</a:t>
            </a:r>
          </a:p>
          <a:p>
            <a:pPr marL="2057400" lvl="4"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Fifth Outline Level</a:t>
            </a:r>
          </a:p>
          <a:p>
            <a:pPr marL="2057400" lvl="5"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Sixth Outline Level</a:t>
            </a:r>
          </a:p>
          <a:p>
            <a:pPr marL="2057400" lvl="6"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Seventh Outline Level</a:t>
            </a:r>
          </a:p>
        </p:txBody>
      </p:sp>
      <p:sp>
        <p:nvSpPr>
          <p:cNvPr id="16" name="PlaceHolder 3"/>
          <p:cNvSpPr>
            <a:spLocks noGrp="1"/>
          </p:cNvSpPr>
          <p:nvPr>
            <p:ph type="dt" idx="4"/>
          </p:nvPr>
        </p:nvSpPr>
        <p:spPr>
          <a:xfrm>
            <a:off x="838080" y="6356520"/>
            <a:ext cx="2743200" cy="365040"/>
          </a:xfrm>
          <a:prstGeom prst="rect">
            <a:avLst/>
          </a:prstGeom>
          <a:noFill/>
          <a:ln w="0">
            <a:noFill/>
          </a:ln>
        </p:spPr>
        <p:txBody>
          <a:bodyPr lIns="91440" tIns="45720" rIns="91440" bIns="45720" anchor="ctr">
            <a:noAutofit/>
          </a:bodyPr>
          <a:lstStyle>
            <a:lvl1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0" u="none" strike="noStrike">
                <a:solidFill>
                  <a:srgbClr val="898989"/>
                </a:solidFill>
                <a:effectLst/>
                <a:uFillTx/>
                <a:latin typeface="Times New Roman"/>
              </a:defRPr>
            </a:lvl1p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8D9D017-606C-4888-B363-BB9203D63B66}" type="datetime">
              <a:rPr lang="en-IN" sz="1200" b="0" u="none" strike="noStrike">
                <a:solidFill>
                  <a:srgbClr val="898989"/>
                </a:solidFill>
                <a:effectLst/>
                <a:uFillTx/>
                <a:latin typeface="Times New Roman"/>
              </a:rPr>
              <a:t>26-08-2026</a:t>
            </a:fld>
            <a:endParaRPr lang="en-US" sz="1200" b="0" u="none" strike="noStrike">
              <a:solidFill>
                <a:srgbClr val="000000"/>
              </a:solidFill>
              <a:effectLst/>
              <a:uFillTx/>
              <a:latin typeface="Times New Roman"/>
            </a:endParaRPr>
          </a:p>
        </p:txBody>
      </p:sp>
      <p:sp>
        <p:nvSpPr>
          <p:cNvPr id="17" name="PlaceHolder 4"/>
          <p:cNvSpPr>
            <a:spLocks noGrp="1"/>
          </p:cNvSpPr>
          <p:nvPr>
            <p:ph type="ftr" idx="5"/>
          </p:nvPr>
        </p:nvSpPr>
        <p:spPr>
          <a:xfrm>
            <a:off x="4038480" y="6356520"/>
            <a:ext cx="4114800" cy="365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8" name="PlaceHolder 5"/>
          <p:cNvSpPr>
            <a:spLocks noGrp="1"/>
          </p:cNvSpPr>
          <p:nvPr>
            <p:ph type="sldNum" idx="6"/>
          </p:nvPr>
        </p:nvSpPr>
        <p:spPr>
          <a:xfrm>
            <a:off x="9067680" y="6176880"/>
            <a:ext cx="2743200" cy="365040"/>
          </a:xfrm>
          <a:prstGeom prst="rect">
            <a:avLst/>
          </a:prstGeom>
          <a:noFill/>
          <a:ln w="0">
            <a:noFill/>
          </a:ln>
        </p:spPr>
        <p:txBody>
          <a:bodyPr lIns="91440" tIns="45720" rIns="91440" bIns="45720" anchor="ctr">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1" u="none" strike="noStrike">
                <a:solidFill>
                  <a:srgbClr val="C00000"/>
                </a:solidFill>
                <a:effectLst/>
                <a:uFillTx/>
                <a:latin typeface="Times New Roman"/>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C50B217-8204-456D-BC3D-BB69381EB3EC}" type="slidenum">
              <a:rPr lang="en-IN" sz="1200" b="1" u="none" strike="noStrike">
                <a:solidFill>
                  <a:srgbClr val="C00000"/>
                </a:solidFill>
                <a:effectLst/>
                <a:uFillTx/>
                <a:latin typeface="Times New Roman"/>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Slide Number Placeholder 3"/>
          <p:cNvSpPr/>
          <p:nvPr/>
        </p:nvSpPr>
        <p:spPr>
          <a:xfrm>
            <a:off x="9067680" y="6176880"/>
            <a:ext cx="2743200" cy="36504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BD89EBA-131B-4690-8CEE-A15A33FC882F}" type="slidenum">
              <a:rPr lang="en-IN" sz="1200" b="1" u="none" strike="noStrike">
                <a:solidFill>
                  <a:srgbClr val="C00000"/>
                </a:solidFill>
                <a:effectLst/>
                <a:uFillTx/>
                <a:latin typeface="Calibri"/>
              </a:rPr>
              <a:t>1</a:t>
            </a:fld>
            <a:endParaRPr lang="en-US" sz="1200" b="0" u="none" strike="noStrike">
              <a:solidFill>
                <a:srgbClr val="000000"/>
              </a:solidFill>
              <a:effectLst/>
              <a:uFillTx/>
              <a:latin typeface="Calibri"/>
            </a:endParaRPr>
          </a:p>
        </p:txBody>
      </p:sp>
      <p:sp>
        <p:nvSpPr>
          <p:cNvPr id="21" name="Rounded Rectangle 4"/>
          <p:cNvSpPr/>
          <p:nvPr/>
        </p:nvSpPr>
        <p:spPr>
          <a:xfrm>
            <a:off x="0" y="6486952"/>
            <a:ext cx="1219212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a:t>B.Tech – Database Systems Engineering | Project Review</a:t>
            </a:r>
            <a:endParaRPr lang="en-US" sz="1600" b="0" u="none" strike="noStrike">
              <a:solidFill>
                <a:srgbClr val="000000"/>
              </a:solidFill>
              <a:effectLst/>
              <a:uFillTx/>
              <a:latin typeface="Calibri"/>
            </a:endParaRPr>
          </a:p>
        </p:txBody>
      </p:sp>
      <p:sp>
        <p:nvSpPr>
          <p:cNvPr id="22" name="Rounded Rectangle 4"/>
          <p:cNvSpPr/>
          <p:nvPr/>
        </p:nvSpPr>
        <p:spPr>
          <a:xfrm>
            <a:off x="-15840" y="-128520"/>
            <a:ext cx="1220796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3" name="Rectangle 7"/>
          <p:cNvSpPr/>
          <p:nvPr/>
        </p:nvSpPr>
        <p:spPr>
          <a:xfrm>
            <a:off x="11261880" y="270000"/>
            <a:ext cx="914400" cy="550800"/>
          </a:xfrm>
          <a:prstGeom prst="rect">
            <a:avLst/>
          </a:prstGeom>
          <a:solidFill>
            <a:srgbClr val="FFFFFF"/>
          </a:solidFill>
          <a:ln w="12600">
            <a:solidFill>
              <a:srgbClr val="FFFFFF"/>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4" name="PlaceHolder 2"/>
          <p:cNvSpPr>
            <a:spLocks noGrp="1"/>
          </p:cNvSpPr>
          <p:nvPr>
            <p:ph type="subTitle"/>
          </p:nvPr>
        </p:nvSpPr>
        <p:spPr>
          <a:xfrm>
            <a:off x="1208237" y="2977359"/>
            <a:ext cx="9385200" cy="666721"/>
          </a:xfrm>
          <a:prstGeom prst="rect">
            <a:avLst/>
          </a:prstGeom>
          <a:noFill/>
          <a:ln w="0">
            <a:noFill/>
          </a:ln>
        </p:spPr>
        <p:txBody>
          <a:bodyPr lIns="91440" tIns="45720" rIns="91440" bIns="45720" anchor="t">
            <a:noAutofit/>
          </a:bodyPr>
          <a:lstStyle/>
          <a:p>
            <a:pPr algn="ctr">
              <a:lnSpc>
                <a:spcPct val="9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3400" b="1" dirty="0">
                <a:latin typeface="Times New Roman" panose="02020603050405020304" pitchFamily="18" charset="0"/>
                <a:cs typeface="Times New Roman" panose="02020603050405020304" pitchFamily="18" charset="0"/>
              </a:rPr>
              <a:t>WINES MANAGEMENT SYSTEM</a:t>
            </a:r>
            <a:endParaRPr lang="en-US" sz="3200" b="1" u="none" strike="noStrike" dirty="0">
              <a:solidFill>
                <a:srgbClr val="000000"/>
              </a:solidFill>
              <a:effectLst/>
              <a:uFillTx/>
              <a:latin typeface="Times New Roman" panose="02020603050405020304" pitchFamily="18" charset="0"/>
              <a:cs typeface="Times New Roman" panose="02020603050405020304" pitchFamily="18" charset="0"/>
            </a:endParaRPr>
          </a:p>
        </p:txBody>
      </p:sp>
      <p:pic>
        <p:nvPicPr>
          <p:cNvPr id="25" name="Picture 1"/>
          <p:cNvPicPr/>
          <p:nvPr/>
        </p:nvPicPr>
        <p:blipFill>
          <a:blip r:embed="rId2"/>
          <a:stretch/>
        </p:blipFill>
        <p:spPr>
          <a:xfrm>
            <a:off x="1693080" y="565200"/>
            <a:ext cx="8805960" cy="666720"/>
          </a:xfrm>
          <a:prstGeom prst="rect">
            <a:avLst/>
          </a:prstGeom>
          <a:noFill/>
          <a:ln w="0">
            <a:noFill/>
          </a:ln>
        </p:spPr>
      </p:pic>
      <p:sp>
        <p:nvSpPr>
          <p:cNvPr id="2" name="TextBox 1">
            <a:extLst>
              <a:ext uri="{FF2B5EF4-FFF2-40B4-BE49-F238E27FC236}">
                <a16:creationId xmlns:a16="http://schemas.microsoft.com/office/drawing/2014/main" id="{8EFDCF5B-E603-2E5B-E9EA-F554DBC752B7}"/>
              </a:ext>
            </a:extLst>
          </p:cNvPr>
          <p:cNvSpPr txBox="1"/>
          <p:nvPr/>
        </p:nvSpPr>
        <p:spPr>
          <a:xfrm>
            <a:off x="1611518" y="4989409"/>
            <a:ext cx="948813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Team 19 | Section 3 | S VENUGOPAL | V PAVAN KUMAR | ABHISHEK YADAV</a:t>
            </a:r>
          </a:p>
        </p:txBody>
      </p:sp>
      <p:sp>
        <p:nvSpPr>
          <p:cNvPr id="4" name="TextBox 3">
            <a:extLst>
              <a:ext uri="{FF2B5EF4-FFF2-40B4-BE49-F238E27FC236}">
                <a16:creationId xmlns:a16="http://schemas.microsoft.com/office/drawing/2014/main" id="{8608DC09-1053-D23A-03E1-59E888195616}"/>
              </a:ext>
            </a:extLst>
          </p:cNvPr>
          <p:cNvSpPr txBox="1"/>
          <p:nvPr/>
        </p:nvSpPr>
        <p:spPr>
          <a:xfrm>
            <a:off x="1982682" y="3861340"/>
            <a:ext cx="7836309" cy="804323"/>
          </a:xfrm>
          <a:prstGeom prst="rect">
            <a:avLst/>
          </a:prstGeom>
          <a:noFill/>
        </p:spPr>
        <p:txBody>
          <a:bodyPr wrap="square" rtlCol="0">
            <a:spAutoFit/>
          </a:bodyPr>
          <a:lstStyle/>
          <a:p>
            <a:pPr>
              <a:lnSpc>
                <a:spcPct val="50000"/>
              </a:lnSpc>
              <a:defRPr/>
            </a:pPr>
            <a:r>
              <a:rPr lang="en-US" altLang="en-IN" b="1" dirty="0"/>
              <a:t> 			</a:t>
            </a:r>
            <a:r>
              <a:rPr lang="en-US" altLang="en-IN" b="1" dirty="0">
                <a:latin typeface="Times New Roman" panose="02020603050405020304" pitchFamily="18" charset="0"/>
                <a:cs typeface="Times New Roman" panose="02020603050405020304" pitchFamily="18" charset="0"/>
              </a:rPr>
              <a:t>Under the Guidance of</a:t>
            </a:r>
          </a:p>
          <a:p>
            <a:pPr>
              <a:lnSpc>
                <a:spcPct val="50000"/>
              </a:lnSpc>
              <a:defRPr/>
            </a:pPr>
            <a:r>
              <a:rPr lang="en-US" altLang="en-IN" b="1" dirty="0">
                <a:solidFill>
                  <a:srgbClr val="FF0000"/>
                </a:solidFill>
                <a:latin typeface="Times New Roman" panose="02020603050405020304" pitchFamily="18" charset="0"/>
                <a:cs typeface="Times New Roman" panose="02020603050405020304" pitchFamily="18" charset="0"/>
              </a:rPr>
              <a:t> </a:t>
            </a:r>
            <a:endParaRPr lang="en-US" altLang="en-IN" b="1" dirty="0">
              <a:solidFill>
                <a:srgbClr val="FF0000"/>
              </a:solidFill>
            </a:endParaRPr>
          </a:p>
          <a:p>
            <a:pPr>
              <a:lnSpc>
                <a:spcPct val="50000"/>
              </a:lnSpc>
              <a:defRPr/>
            </a:pPr>
            <a:r>
              <a:rPr lang="en-US" altLang="en-IN" b="1" dirty="0">
                <a:solidFill>
                  <a:srgbClr val="FF0000"/>
                </a:solidFill>
              </a:rPr>
              <a:t>	                                   </a:t>
            </a:r>
            <a:r>
              <a:rPr lang="en-US" altLang="en-IN" b="1" dirty="0" err="1">
                <a:solidFill>
                  <a:srgbClr val="FF0000"/>
                </a:solidFill>
              </a:rPr>
              <a:t>Dr.M</a:t>
            </a:r>
            <a:r>
              <a:rPr lang="en-US" altLang="en-IN" b="1" dirty="0">
                <a:solidFill>
                  <a:srgbClr val="FF0000"/>
                </a:solidFill>
              </a:rPr>
              <a:t> Gayatri</a:t>
            </a:r>
          </a:p>
          <a:p>
            <a:pPr>
              <a:lnSpc>
                <a:spcPct val="50000"/>
              </a:lnSpc>
              <a:defRPr/>
            </a:pPr>
            <a:endParaRPr lang="en-US" altLang="en-IN" b="1" dirty="0">
              <a:solidFill>
                <a:srgbClr val="FF0000"/>
              </a:solidFill>
              <a:latin typeface="Times New Roman" panose="02020603050405020304" pitchFamily="18" charset="0"/>
              <a:cs typeface="Times New Roman" panose="02020603050405020304" pitchFamily="18" charset="0"/>
            </a:endParaRPr>
          </a:p>
          <a:p>
            <a:pPr>
              <a:lnSpc>
                <a:spcPct val="50000"/>
              </a:lnSpc>
              <a:defRPr/>
            </a:pPr>
            <a:r>
              <a:rPr lang="en-US" altLang="en-IN" dirty="0">
                <a:latin typeface="Times New Roman" panose="02020603050405020304" pitchFamily="18" charset="0"/>
                <a:cs typeface="Times New Roman" panose="02020603050405020304" pitchFamily="18" charset="0"/>
              </a:rPr>
              <a:t>	 		Associate </a:t>
            </a:r>
            <a:r>
              <a:rPr lang="en-IN" altLang="en-US" dirty="0">
                <a:latin typeface="Times New Roman" panose="02020603050405020304" pitchFamily="18" charset="0"/>
                <a:cs typeface="Times New Roman" panose="02020603050405020304" pitchFamily="18" charset="0"/>
              </a:rPr>
              <a:t>Professor </a:t>
            </a:r>
            <a:endParaRPr lang="en-US" altLang="en-IN"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PlaceHolder 1"/>
          <p:cNvSpPr>
            <a:spLocks noGrp="1"/>
          </p:cNvSpPr>
          <p:nvPr>
            <p:ph type="title"/>
          </p:nvPr>
        </p:nvSpPr>
        <p:spPr>
          <a:xfrm>
            <a:off x="838260" y="1476408"/>
            <a:ext cx="10515600" cy="56844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br>
              <a:rPr sz="4400" b="1" dirty="0">
                <a:latin typeface="Times New Roman" panose="02020603050405020304" pitchFamily="18" charset="0"/>
                <a:cs typeface="Times New Roman" panose="02020603050405020304" pitchFamily="18" charset="0"/>
              </a:rPr>
            </a:br>
            <a:r>
              <a:rPr lang="en-IN" sz="4400" b="1" u="none" strike="noStrike" dirty="0">
                <a:effectLst/>
                <a:uFillTx/>
                <a:latin typeface="Times New Roman" panose="02020603050405020304" pitchFamily="18" charset="0"/>
                <a:cs typeface="Times New Roman" panose="02020603050405020304" pitchFamily="18" charset="0"/>
              </a:rPr>
              <a:t>Agenda</a:t>
            </a:r>
            <a:endParaRPr lang="en-US" sz="4400" b="1" u="none" strike="noStrike" dirty="0">
              <a:effectLst/>
              <a:uFillTx/>
              <a:latin typeface="Times New Roman" panose="02020603050405020304" pitchFamily="18" charset="0"/>
              <a:cs typeface="Times New Roman" panose="02020603050405020304" pitchFamily="18" charset="0"/>
            </a:endParaRPr>
          </a:p>
        </p:txBody>
      </p:sp>
      <p:sp>
        <p:nvSpPr>
          <p:cNvPr id="27" name="TextBox 26"/>
          <p:cNvSpPr txBox="1"/>
          <p:nvPr/>
        </p:nvSpPr>
        <p:spPr>
          <a:xfrm>
            <a:off x="1214597" y="2562004"/>
            <a:ext cx="10406160" cy="3286196"/>
          </a:xfrm>
          <a:prstGeom prst="rect">
            <a:avLst/>
          </a:prstGeom>
          <a:noFill/>
          <a:ln w="0">
            <a:noFill/>
          </a:ln>
        </p:spPr>
        <p:txBody>
          <a:bodyPr anchor="t">
            <a:normAutofit fontScale="92500" lnSpcReduction="10000"/>
          </a:bodyPr>
          <a:lstStyle/>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000" dirty="0">
                <a:latin typeface="Times New Roman" panose="02020603050405020304" pitchFamily="18" charset="0"/>
                <a:cs typeface="Times New Roman" panose="02020603050405020304" pitchFamily="18" charset="0"/>
              </a:rPr>
              <a:t>Abstract</a:t>
            </a:r>
            <a:endParaRPr lang="en-IN" sz="2000" dirty="0">
              <a:latin typeface="Times New Roman" panose="02020603050405020304" pitchFamily="18" charset="0"/>
              <a:cs typeface="Times New Roman" panose="02020603050405020304" pitchFamily="18" charset="0"/>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000"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000"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000" dirty="0">
                <a:latin typeface="Times New Roman" panose="02020603050405020304" pitchFamily="18" charset="0"/>
                <a:cs typeface="Times New Roman" panose="02020603050405020304" pitchFamily="18" charset="0"/>
              </a:rPr>
              <a:t>Proposed System</a:t>
            </a:r>
            <a:endParaRPr lang="en-IN" dirty="0">
              <a:latin typeface="Times New Roman" panose="02020603050405020304" pitchFamily="18" charset="0"/>
              <a:cs typeface="Times New Roman" panose="02020603050405020304" pitchFamily="18" charset="0"/>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000" dirty="0">
                <a:latin typeface="Times New Roman" panose="02020603050405020304" pitchFamily="18" charset="0"/>
                <a:cs typeface="Times New Roman" panose="02020603050405020304" pitchFamily="18" charset="0"/>
              </a:rPr>
              <a:t>Database Design</a:t>
            </a:r>
            <a:endParaRPr lang="en-IN" dirty="0">
              <a:latin typeface="Times New Roman" panose="02020603050405020304" pitchFamily="18" charset="0"/>
              <a:cs typeface="Times New Roman" panose="02020603050405020304" pitchFamily="18" charset="0"/>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000" dirty="0">
                <a:latin typeface="Times New Roman" panose="02020603050405020304" pitchFamily="18" charset="0"/>
                <a:cs typeface="Times New Roman" panose="02020603050405020304" pitchFamily="18" charset="0"/>
              </a:rPr>
              <a:t>System Architecture</a:t>
            </a:r>
            <a:endParaRPr lang="en-IN" dirty="0">
              <a:latin typeface="Times New Roman" panose="02020603050405020304" pitchFamily="18" charset="0"/>
              <a:cs typeface="Times New Roman" panose="02020603050405020304" pitchFamily="18" charset="0"/>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000" dirty="0">
                <a:latin typeface="Times New Roman" panose="02020603050405020304" pitchFamily="18" charset="0"/>
                <a:cs typeface="Times New Roman" panose="02020603050405020304" pitchFamily="18" charset="0"/>
              </a:rPr>
              <a:t>SQL Operations &amp; Queries</a:t>
            </a:r>
            <a:endParaRPr lang="en-IN" dirty="0">
              <a:latin typeface="Times New Roman" panose="02020603050405020304" pitchFamily="18" charset="0"/>
              <a:cs typeface="Times New Roman" panose="02020603050405020304" pitchFamily="18" charset="0"/>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000" dirty="0">
                <a:latin typeface="Times New Roman" panose="02020603050405020304" pitchFamily="18" charset="0"/>
                <a:cs typeface="Times New Roman" panose="02020603050405020304" pitchFamily="18" charset="0"/>
              </a:rPr>
              <a:t>Requirements Specifications</a:t>
            </a:r>
            <a:br>
              <a:rPr dirty="0">
                <a:latin typeface="Times New Roman" panose="02020603050405020304" pitchFamily="18" charset="0"/>
                <a:cs typeface="Times New Roman" panose="02020603050405020304" pitchFamily="18" charset="0"/>
              </a:rPr>
            </a:br>
            <a:r>
              <a:rPr sz="2000" dirty="0">
                <a:latin typeface="Times New Roman" panose="02020603050405020304" pitchFamily="18" charset="0"/>
                <a:cs typeface="Times New Roman" panose="02020603050405020304" pitchFamily="18" charset="0"/>
              </a:rPr>
              <a:t>Conclusion</a:t>
            </a:r>
            <a:endParaRPr lang="en-US" sz="2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28" name="Slide Number Placeholder 2"/>
          <p:cNvSpPr/>
          <p:nvPr/>
        </p:nvSpPr>
        <p:spPr>
          <a:xfrm>
            <a:off x="9067680" y="6176880"/>
            <a:ext cx="2743200" cy="36504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8C0476A-C1D0-467A-8619-2D0BDC954719}" type="slidenum">
              <a:rPr lang="en-IN" sz="1200" b="1" u="none" strike="noStrike">
                <a:solidFill>
                  <a:srgbClr val="C00000"/>
                </a:solidFill>
                <a:effectLst/>
                <a:uFillTx/>
                <a:latin typeface="Calibri"/>
              </a:rPr>
              <a:t>2</a:t>
            </a:fld>
            <a:endParaRPr lang="en-US" sz="1200" b="0" u="none" strike="noStrike">
              <a:solidFill>
                <a:srgbClr val="000000"/>
              </a:solidFill>
              <a:effectLst/>
              <a:uFillTx/>
              <a:latin typeface="Calibri"/>
            </a:endParaRPr>
          </a:p>
        </p:txBody>
      </p:sp>
      <p:pic>
        <p:nvPicPr>
          <p:cNvPr id="29" name="Picture 5"/>
          <p:cNvPicPr/>
          <p:nvPr/>
        </p:nvPicPr>
        <p:blipFill>
          <a:blip r:embed="rId2"/>
          <a:stretch/>
        </p:blipFill>
        <p:spPr>
          <a:xfrm>
            <a:off x="11290320" y="0"/>
            <a:ext cx="901800" cy="993600"/>
          </a:xfrm>
          <a:prstGeom prst="rect">
            <a:avLst/>
          </a:prstGeom>
          <a:noFill/>
          <a:ln w="0">
            <a:noFill/>
          </a:ln>
        </p:spPr>
      </p:pic>
      <p:sp>
        <p:nvSpPr>
          <p:cNvPr id="30" name="Rounded Rectangle 4"/>
          <p:cNvSpPr/>
          <p:nvPr/>
        </p:nvSpPr>
        <p:spPr>
          <a:xfrm>
            <a:off x="-15840" y="-109440"/>
            <a:ext cx="1220796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1" name="Rectangle 4"/>
          <p:cNvSpPr/>
          <p:nvPr/>
        </p:nvSpPr>
        <p:spPr>
          <a:xfrm>
            <a:off x="11261880" y="270000"/>
            <a:ext cx="914400" cy="723600"/>
          </a:xfrm>
          <a:prstGeom prst="rect">
            <a:avLst/>
          </a:prstGeom>
          <a:solidFill>
            <a:srgbClr val="FFFFFF"/>
          </a:solidFill>
          <a:ln w="12600">
            <a:solidFill>
              <a:srgbClr val="FFFFFF"/>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2" name="Rounded Rectangle 4"/>
          <p:cNvSpPr/>
          <p:nvPr/>
        </p:nvSpPr>
        <p:spPr>
          <a:xfrm>
            <a:off x="0" y="6477120"/>
            <a:ext cx="1219212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u="none" strike="noStrike" dirty="0" err="1">
                <a:solidFill>
                  <a:srgbClr val="000000"/>
                </a:solidFill>
                <a:effectLst/>
                <a:uFillTx/>
                <a:latin typeface="Arial Rounded MT Bold"/>
              </a:rPr>
              <a:t>B.Tech</a:t>
            </a:r>
            <a:r>
              <a:rPr lang="en-IN" sz="1600" b="1" u="none" strike="noStrike" dirty="0">
                <a:solidFill>
                  <a:srgbClr val="000000"/>
                </a:solidFill>
                <a:effectLst/>
                <a:uFillTx/>
                <a:latin typeface="Arial Rounded MT Bold"/>
              </a:rPr>
              <a:t> III Year – II Sem | Dept of Computational Intelligence| Application Development – II | Project Review</a:t>
            </a:r>
            <a:endParaRPr lang="en-US" sz="1600" b="0" u="none" strike="noStrike" dirty="0">
              <a:solidFill>
                <a:srgbClr val="000000"/>
              </a:solidFill>
              <a:effectLst/>
              <a:uFillTx/>
              <a:latin typeface="Calibri"/>
            </a:endParaRPr>
          </a:p>
        </p:txBody>
      </p:sp>
      <p:pic>
        <p:nvPicPr>
          <p:cNvPr id="33" name="Picture 7"/>
          <p:cNvPicPr/>
          <p:nvPr/>
        </p:nvPicPr>
        <p:blipFill>
          <a:blip r:embed="rId3"/>
          <a:stretch/>
        </p:blipFill>
        <p:spPr>
          <a:xfrm>
            <a:off x="10493280" y="0"/>
            <a:ext cx="1467000" cy="898560"/>
          </a:xfrm>
          <a:prstGeom prst="rect">
            <a:avLst/>
          </a:prstGeom>
          <a:noFill/>
          <a:ln w="0">
            <a:noFill/>
          </a:ln>
        </p:spPr>
      </p:pic>
      <p:sp>
        <p:nvSpPr>
          <p:cNvPr id="3" name="Rounded Rectangle 4">
            <a:extLst>
              <a:ext uri="{FF2B5EF4-FFF2-40B4-BE49-F238E27FC236}">
                <a16:creationId xmlns:a16="http://schemas.microsoft.com/office/drawing/2014/main" id="{9A5BC709-7E5F-CD6B-63A9-F78852686FC1}"/>
              </a:ext>
            </a:extLst>
          </p:cNvPr>
          <p:cNvSpPr/>
          <p:nvPr/>
        </p:nvSpPr>
        <p:spPr>
          <a:xfrm>
            <a:off x="1468" y="6507371"/>
            <a:ext cx="12192120" cy="393479"/>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dirty="0" err="1"/>
              <a:t>B.Tech</a:t>
            </a:r>
            <a:r>
              <a:rPr sz="1400" dirty="0"/>
              <a:t> – Database Systems Engineering | Project Review</a:t>
            </a:r>
            <a:endParaRPr lang="en-US" sz="1600" b="0" u="none" strike="noStrike" dirty="0">
              <a:solidFill>
                <a:srgbClr val="000000"/>
              </a:solidFill>
              <a:effectLst/>
              <a:uFillTx/>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729925" y="1345003"/>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u="none" strike="noStrike" dirty="0">
                <a:effectLst/>
                <a:uFillTx/>
                <a:latin typeface="Times New Roman"/>
              </a:rPr>
              <a:t>Abstract</a:t>
            </a:r>
            <a:endParaRPr lang="en-US" sz="4400" b="1" u="none" strike="noStrike" dirty="0">
              <a:effectLst/>
              <a:uFillTx/>
              <a:latin typeface="Calibri Light"/>
            </a:endParaRPr>
          </a:p>
        </p:txBody>
      </p:sp>
      <p:sp>
        <p:nvSpPr>
          <p:cNvPr id="35" name="TextBox 34"/>
          <p:cNvSpPr txBox="1"/>
          <p:nvPr/>
        </p:nvSpPr>
        <p:spPr>
          <a:xfrm>
            <a:off x="995396" y="2093443"/>
            <a:ext cx="10515600" cy="2095099"/>
          </a:xfrm>
          <a:prstGeom prst="rect">
            <a:avLst/>
          </a:prstGeom>
          <a:noFill/>
          <a:ln w="0">
            <a:noFill/>
          </a:ln>
        </p:spPr>
        <p:txBody>
          <a:bodyPr anchor="t">
            <a:normAutofit/>
          </a:bodyPr>
          <a:lstStyle/>
          <a:p>
            <a:pPr algn="just">
              <a:lnSpc>
                <a:spcPct val="9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700" dirty="0">
                <a:latin typeface="Times New Roman" panose="02020603050405020304" pitchFamily="18" charset="0"/>
                <a:cs typeface="Times New Roman" panose="02020603050405020304" pitchFamily="18" charset="0"/>
              </a:rPr>
              <a:t>The Wines Management System is a relational database management system designed to store and manage information about wines, customers, suppliers, inventory and sales orders in a structured database. Manual management can cause data redundancy, inconsistency and difficulty in retrieving required information. The proposed system provides a centralized database for wine details such as wine name, category, price, quantity and supplier information, along with customer and order records. Primary keys and foreign keys establish relationships among entities. The project demonstrates ER modeling, relational database design, normalization, constraints, CRUD operations, SQL queries, joins, aggregate functions and transactions. It can generate available stock, customer order history, total sales and low-stock products.</a:t>
            </a:r>
            <a:endParaRPr lang="en-US" sz="2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36" name="Slide Number Placeholder 2"/>
          <p:cNvSpPr/>
          <p:nvPr/>
        </p:nvSpPr>
        <p:spPr>
          <a:xfrm>
            <a:off x="9067680" y="6176880"/>
            <a:ext cx="2743200" cy="36504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AA64586-1C93-44D9-A92D-8F825E0DDB6A}" type="slidenum">
              <a:rPr lang="en-IN" sz="1200" b="1" u="none" strike="noStrike">
                <a:solidFill>
                  <a:srgbClr val="C00000"/>
                </a:solidFill>
                <a:effectLst/>
                <a:uFillTx/>
                <a:latin typeface="Calibri"/>
              </a:rPr>
              <a:t>3</a:t>
            </a:fld>
            <a:endParaRPr lang="en-US" sz="1200" b="0" u="none" strike="noStrike">
              <a:solidFill>
                <a:srgbClr val="000000"/>
              </a:solidFill>
              <a:effectLst/>
              <a:uFillTx/>
              <a:latin typeface="Calibri"/>
            </a:endParaRPr>
          </a:p>
        </p:txBody>
      </p:sp>
      <p:pic>
        <p:nvPicPr>
          <p:cNvPr id="38" name="Picture 7"/>
          <p:cNvPicPr/>
          <p:nvPr/>
        </p:nvPicPr>
        <p:blipFill>
          <a:blip r:embed="rId2"/>
          <a:stretch/>
        </p:blipFill>
        <p:spPr>
          <a:xfrm>
            <a:off x="10493280" y="0"/>
            <a:ext cx="1865520" cy="898560"/>
          </a:xfrm>
          <a:prstGeom prst="rect">
            <a:avLst/>
          </a:prstGeom>
          <a:noFill/>
          <a:ln w="0">
            <a:noFill/>
          </a:ln>
        </p:spPr>
      </p:pic>
      <p:sp>
        <p:nvSpPr>
          <p:cNvPr id="3" name="Rounded Rectangle 4">
            <a:extLst>
              <a:ext uri="{FF2B5EF4-FFF2-40B4-BE49-F238E27FC236}">
                <a16:creationId xmlns:a16="http://schemas.microsoft.com/office/drawing/2014/main" id="{0638FB3B-5C9F-5A0B-6DEB-657E71362242}"/>
              </a:ext>
            </a:extLst>
          </p:cNvPr>
          <p:cNvSpPr/>
          <p:nvPr/>
        </p:nvSpPr>
        <p:spPr>
          <a:xfrm>
            <a:off x="0" y="6477120"/>
            <a:ext cx="1219212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a:t>B.Tech – Database Systems Engineering | Project Review</a:t>
            </a:r>
            <a:endParaRPr lang="en-US" sz="1600" b="0" u="none" strike="noStrike">
              <a:solidFill>
                <a:srgbClr val="000000"/>
              </a:solidFill>
              <a:effectLst/>
              <a:uFillTx/>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PlaceHolder 1"/>
          <p:cNvSpPr>
            <a:spLocks noGrp="1"/>
          </p:cNvSpPr>
          <p:nvPr>
            <p:ph type="title"/>
          </p:nvPr>
        </p:nvSpPr>
        <p:spPr>
          <a:xfrm>
            <a:off x="910440" y="1963645"/>
            <a:ext cx="10515600" cy="63828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u="none" strike="noStrike" dirty="0">
                <a:effectLst/>
                <a:uFillTx/>
                <a:latin typeface="Times New Roman"/>
              </a:rPr>
              <a:t>Introduction</a:t>
            </a:r>
            <a:endParaRPr lang="en-US" sz="4400" b="1" u="none" strike="noStrike" dirty="0">
              <a:effectLst/>
              <a:uFillTx/>
              <a:latin typeface="Calibri Light"/>
            </a:endParaRPr>
          </a:p>
        </p:txBody>
      </p:sp>
      <p:sp>
        <p:nvSpPr>
          <p:cNvPr id="40" name="TextBox 39"/>
          <p:cNvSpPr txBox="1"/>
          <p:nvPr/>
        </p:nvSpPr>
        <p:spPr>
          <a:xfrm>
            <a:off x="910440" y="2827285"/>
            <a:ext cx="10515600" cy="5070240"/>
          </a:xfrm>
          <a:prstGeom prst="rect">
            <a:avLst/>
          </a:prstGeom>
          <a:noFill/>
          <a:ln w="0">
            <a:noFill/>
          </a:ln>
        </p:spPr>
        <p:txBody>
          <a:bodyPr anchor="t">
            <a:normAutofit/>
          </a:bodyPr>
          <a:lstStyle/>
          <a:p>
            <a:pPr algn="just">
              <a:lnSpc>
                <a:spcPct val="9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700" dirty="0">
                <a:latin typeface="Times New Roman" panose="02020603050405020304" pitchFamily="18" charset="0"/>
                <a:cs typeface="Times New Roman" panose="02020603050405020304" pitchFamily="18" charset="0"/>
              </a:rPr>
              <a:t>The Wines Management System provides an organized database solution for managing wine-shop operations. The system contains six main entities: WINE, SUPPLIER, CUSTOMER, ORDERS, ORDER_DETAILS and INVENTORY. WINE stores product information; SUPPLIER stores supplier details; CUSTOMER stores customer details; ORDERS and ORDER_DETAILS record sales; and INVENTORY maintains stock levels. The database uses primary keys, foreign keys and constraints to maintain data integrity and reduce redundancy. MySQL, SQL, MySQL Workbench and ER Diagram tools are used for implementation. The system supports fast retrieval of business information and provides a practical demonstration of DBMS concepts.</a:t>
            </a:r>
            <a:endParaRPr lang="en-US" sz="260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41" name="Slide Number Placeholder 2"/>
          <p:cNvSpPr/>
          <p:nvPr/>
        </p:nvSpPr>
        <p:spPr>
          <a:xfrm>
            <a:off x="9321840" y="6280200"/>
            <a:ext cx="2743200" cy="36504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EF30C20-5BB4-4F34-BD08-D3CFB77D9C1A}" type="slidenum">
              <a:rPr lang="en-IN" sz="1200" b="1" u="none" strike="noStrike">
                <a:solidFill>
                  <a:srgbClr val="C00000"/>
                </a:solidFill>
                <a:effectLst/>
                <a:uFillTx/>
                <a:latin typeface="Calibri"/>
              </a:rPr>
              <a:t>4</a:t>
            </a:fld>
            <a:endParaRPr lang="en-US" sz="1200" b="0" u="none" strike="noStrike">
              <a:solidFill>
                <a:srgbClr val="000000"/>
              </a:solidFill>
              <a:effectLst/>
              <a:uFillTx/>
              <a:latin typeface="Calibri"/>
            </a:endParaRPr>
          </a:p>
        </p:txBody>
      </p:sp>
      <p:pic>
        <p:nvPicPr>
          <p:cNvPr id="43" name="Picture 8"/>
          <p:cNvPicPr/>
          <p:nvPr/>
        </p:nvPicPr>
        <p:blipFill>
          <a:blip r:embed="rId2"/>
          <a:stretch/>
        </p:blipFill>
        <p:spPr>
          <a:xfrm>
            <a:off x="10493280" y="0"/>
            <a:ext cx="1865520" cy="898560"/>
          </a:xfrm>
          <a:prstGeom prst="rect">
            <a:avLst/>
          </a:prstGeom>
          <a:noFill/>
          <a:ln w="0">
            <a:noFill/>
          </a:ln>
        </p:spPr>
      </p:pic>
      <p:sp>
        <p:nvSpPr>
          <p:cNvPr id="3" name="Rounded Rectangle 4">
            <a:extLst>
              <a:ext uri="{FF2B5EF4-FFF2-40B4-BE49-F238E27FC236}">
                <a16:creationId xmlns:a16="http://schemas.microsoft.com/office/drawing/2014/main" id="{8B3E068C-643F-B34D-5A04-A62CB2C637F1}"/>
              </a:ext>
            </a:extLst>
          </p:cNvPr>
          <p:cNvSpPr/>
          <p:nvPr/>
        </p:nvSpPr>
        <p:spPr>
          <a:xfrm>
            <a:off x="0" y="6477120"/>
            <a:ext cx="1219212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a:t>B.Tech – Database Systems Engineering | Project Review</a:t>
            </a:r>
            <a:endParaRPr lang="en-US" sz="1600" b="0" u="none" strike="noStrike">
              <a:solidFill>
                <a:srgbClr val="000000"/>
              </a:solidFill>
              <a:effectLst/>
              <a:uFillTx/>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6235" y="1121310"/>
            <a:ext cx="10515600" cy="1325520"/>
          </a:xfrm>
        </p:spPr>
        <p:txBody>
          <a:bodyPr/>
          <a:lstStyle/>
          <a:p>
            <a:r>
              <a:rPr sz="2800" b="1" dirty="0">
                <a:latin typeface="Times New Roman" panose="02020603050405020304" pitchFamily="18" charset="0"/>
                <a:cs typeface="Times New Roman" panose="02020603050405020304" pitchFamily="18" charset="0"/>
              </a:rPr>
              <a:t>Problem Statement &amp; Objectives</a:t>
            </a:r>
          </a:p>
        </p:txBody>
      </p:sp>
      <p:sp>
        <p:nvSpPr>
          <p:cNvPr id="28" name="Slide Number Placeholder 2"/>
          <p:cNvSpPr/>
          <p:nvPr/>
        </p:nvSpPr>
        <p:spPr>
          <a:xfrm>
            <a:off x="1182207" y="3064500"/>
            <a:ext cx="8384579" cy="31608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800" dirty="0">
                <a:latin typeface="Times New Roman" panose="02020603050405020304" pitchFamily="18" charset="0"/>
                <a:cs typeface="Times New Roman" panose="02020603050405020304" pitchFamily="18" charset="0"/>
              </a:rPr>
              <a:t>• Manual records may cause data redundancy and inconsistent information.</a:t>
            </a:r>
            <a:br>
              <a:rPr dirty="0">
                <a:latin typeface="Times New Roman" panose="02020603050405020304" pitchFamily="18" charset="0"/>
                <a:cs typeface="Times New Roman" panose="02020603050405020304" pitchFamily="18" charset="0"/>
              </a:rPr>
            </a:br>
            <a:r>
              <a:rPr sz="1800" dirty="0">
                <a:latin typeface="Times New Roman" panose="02020603050405020304" pitchFamily="18" charset="0"/>
                <a:cs typeface="Times New Roman" panose="02020603050405020304" pitchFamily="18" charset="0"/>
              </a:rPr>
              <a:t>• Retrieving wine stock, customer orders and sales details can be difficult.</a:t>
            </a:r>
            <a:br>
              <a:rPr dirty="0">
                <a:latin typeface="Times New Roman" panose="02020603050405020304" pitchFamily="18" charset="0"/>
                <a:cs typeface="Times New Roman" panose="02020603050405020304" pitchFamily="18" charset="0"/>
              </a:rPr>
            </a:br>
            <a:r>
              <a:rPr sz="1800" dirty="0">
                <a:latin typeface="Times New Roman" panose="02020603050405020304" pitchFamily="18" charset="0"/>
                <a:cs typeface="Times New Roman" panose="02020603050405020304" pitchFamily="18" charset="0"/>
              </a:rPr>
              <a:t>• Build a centralized, efficient and reliable relational database.</a:t>
            </a:r>
            <a:br>
              <a:rPr dirty="0">
                <a:latin typeface="Times New Roman" panose="02020603050405020304" pitchFamily="18" charset="0"/>
                <a:cs typeface="Times New Roman" panose="02020603050405020304" pitchFamily="18" charset="0"/>
              </a:rPr>
            </a:br>
            <a:r>
              <a:rPr sz="1800" dirty="0">
                <a:latin typeface="Times New Roman" panose="02020603050405020304" pitchFamily="18" charset="0"/>
                <a:cs typeface="Times New Roman" panose="02020603050405020304" pitchFamily="18" charset="0"/>
              </a:rPr>
              <a:t>• Maintain accurate wine, supplier, customer, inventory and order information.</a:t>
            </a:r>
            <a:br>
              <a:rPr dirty="0">
                <a:latin typeface="Times New Roman" panose="02020603050405020304" pitchFamily="18" charset="0"/>
                <a:cs typeface="Times New Roman" panose="02020603050405020304" pitchFamily="18" charset="0"/>
              </a:rPr>
            </a:br>
            <a:r>
              <a:rPr sz="1800" dirty="0">
                <a:latin typeface="Times New Roman" panose="02020603050405020304" pitchFamily="18" charset="0"/>
                <a:cs typeface="Times New Roman" panose="02020603050405020304" pitchFamily="18" charset="0"/>
              </a:rPr>
              <a:t>• Provide fast access to stock, order history, total sales and low-stock products.</a:t>
            </a:r>
            <a:endParaRPr lang="en-US" sz="1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pic>
        <p:nvPicPr>
          <p:cNvPr id="29" name="Picture 5"/>
          <p:cNvPicPr/>
          <p:nvPr/>
        </p:nvPicPr>
        <p:blipFill>
          <a:blip/>
          <a:stretch/>
        </p:blipFill>
        <p:spPr>
          <a:xfrm>
            <a:off x="11290320" y="0"/>
            <a:ext cx="901800" cy="993600"/>
          </a:xfrm>
          <a:prstGeom prst="rect">
            <a:avLst/>
          </a:prstGeom>
          <a:noFill/>
          <a:ln w="0">
            <a:noFill/>
          </a:ln>
        </p:spPr>
      </p:pic>
      <p:sp>
        <p:nvSpPr>
          <p:cNvPr id="30" name="Rounded Rectangle 4"/>
          <p:cNvSpPr/>
          <p:nvPr/>
        </p:nvSpPr>
        <p:spPr>
          <a:xfrm>
            <a:off x="-15840" y="-109440"/>
            <a:ext cx="1220796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1" name="Rectangle 4"/>
          <p:cNvSpPr/>
          <p:nvPr/>
        </p:nvSpPr>
        <p:spPr>
          <a:xfrm>
            <a:off x="11261880" y="270000"/>
            <a:ext cx="914400" cy="723600"/>
          </a:xfrm>
          <a:prstGeom prst="rect">
            <a:avLst/>
          </a:prstGeom>
          <a:solidFill>
            <a:srgbClr val="FFFFFF"/>
          </a:solidFill>
          <a:ln w="12600">
            <a:solidFill>
              <a:srgbClr val="FFFFFF"/>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pic>
        <p:nvPicPr>
          <p:cNvPr id="7" name="Picture 7">
            <a:extLst>
              <a:ext uri="{FF2B5EF4-FFF2-40B4-BE49-F238E27FC236}">
                <a16:creationId xmlns:a16="http://schemas.microsoft.com/office/drawing/2014/main" id="{58D1D9E1-57CA-F758-97AA-A2E46B8F6A0F}"/>
              </a:ext>
            </a:extLst>
          </p:cNvPr>
          <p:cNvPicPr/>
          <p:nvPr/>
        </p:nvPicPr>
        <p:blipFill>
          <a:blip r:embed="rId2"/>
          <a:stretch/>
        </p:blipFill>
        <p:spPr>
          <a:xfrm>
            <a:off x="10493280" y="19664"/>
            <a:ext cx="1467000" cy="898560"/>
          </a:xfrm>
          <a:prstGeom prst="rect">
            <a:avLst/>
          </a:prstGeom>
          <a:noFill/>
          <a:ln w="0">
            <a:noFill/>
          </a:ln>
        </p:spPr>
      </p:pic>
      <p:sp>
        <p:nvSpPr>
          <p:cNvPr id="9" name="Rounded Rectangle 4">
            <a:extLst>
              <a:ext uri="{FF2B5EF4-FFF2-40B4-BE49-F238E27FC236}">
                <a16:creationId xmlns:a16="http://schemas.microsoft.com/office/drawing/2014/main" id="{47E55F57-D9B8-2F63-C01A-27F212634F8F}"/>
              </a:ext>
            </a:extLst>
          </p:cNvPr>
          <p:cNvSpPr/>
          <p:nvPr/>
        </p:nvSpPr>
        <p:spPr>
          <a:xfrm>
            <a:off x="0" y="6477120"/>
            <a:ext cx="1219212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a:t>B.Tech – Database Systems Engineering | Project Review</a:t>
            </a:r>
            <a:endParaRPr lang="en-US" sz="1600" b="0" u="none" strike="noStrike">
              <a:solidFill>
                <a:srgbClr val="000000"/>
              </a:solidFill>
              <a:effectLst/>
              <a:uFillTx/>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994" y="1678906"/>
            <a:ext cx="10515600" cy="1325520"/>
          </a:xfrm>
        </p:spPr>
        <p:txBody>
          <a:bodyPr/>
          <a:lstStyle/>
          <a:p>
            <a:r>
              <a:rPr sz="2800" b="1" dirty="0">
                <a:latin typeface="Times New Roman" panose="02020603050405020304" pitchFamily="18" charset="0"/>
                <a:cs typeface="Times New Roman" panose="02020603050405020304" pitchFamily="18" charset="0"/>
              </a:rPr>
              <a:t>Database Design</a:t>
            </a:r>
          </a:p>
        </p:txBody>
      </p:sp>
      <p:sp>
        <p:nvSpPr>
          <p:cNvPr id="28" name="Slide Number Placeholder 2"/>
          <p:cNvSpPr/>
          <p:nvPr/>
        </p:nvSpPr>
        <p:spPr>
          <a:xfrm>
            <a:off x="1160206" y="3364020"/>
            <a:ext cx="9684775" cy="36504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800" dirty="0">
                <a:latin typeface="Times New Roman" panose="02020603050405020304" pitchFamily="18" charset="0"/>
                <a:cs typeface="Times New Roman" panose="02020603050405020304" pitchFamily="18" charset="0"/>
              </a:rPr>
              <a:t>WINE: Wine</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ID (PK), Wine</a:t>
            </a:r>
            <a:r>
              <a:rPr lang="en-IN" sz="1800" dirty="0">
                <a:latin typeface="Times New Roman" panose="02020603050405020304" pitchFamily="18" charset="0"/>
                <a:cs typeface="Times New Roman" panose="02020603050405020304" pitchFamily="18" charset="0"/>
              </a:rPr>
              <a:t>_</a:t>
            </a:r>
            <a:r>
              <a:rPr sz="1800" dirty="0">
                <a:latin typeface="Times New Roman" panose="02020603050405020304" pitchFamily="18" charset="0"/>
                <a:cs typeface="Times New Roman" panose="02020603050405020304" pitchFamily="18" charset="0"/>
              </a:rPr>
              <a:t>Name, Category, Price, Quantity, Supplier</a:t>
            </a:r>
            <a:r>
              <a:rPr lang="en-IN" sz="1800" dirty="0">
                <a:latin typeface="Times New Roman" panose="02020603050405020304" pitchFamily="18" charset="0"/>
                <a:cs typeface="Times New Roman" panose="02020603050405020304" pitchFamily="18" charset="0"/>
              </a:rPr>
              <a:t>_</a:t>
            </a:r>
            <a:r>
              <a:rPr sz="1800" dirty="0">
                <a:latin typeface="Times New Roman" panose="02020603050405020304" pitchFamily="18" charset="0"/>
                <a:cs typeface="Times New Roman" panose="02020603050405020304" pitchFamily="18" charset="0"/>
              </a:rPr>
              <a:t>ID (FK)</a:t>
            </a:r>
            <a:br>
              <a:rPr dirty="0">
                <a:latin typeface="Times New Roman" panose="02020603050405020304" pitchFamily="18" charset="0"/>
                <a:cs typeface="Times New Roman" panose="02020603050405020304" pitchFamily="18" charset="0"/>
              </a:rPr>
            </a:br>
            <a:r>
              <a:rPr sz="1800" dirty="0">
                <a:latin typeface="Times New Roman" panose="02020603050405020304" pitchFamily="18" charset="0"/>
                <a:cs typeface="Times New Roman" panose="02020603050405020304" pitchFamily="18" charset="0"/>
              </a:rPr>
              <a:t>SUPPLIER: Supplier</a:t>
            </a:r>
            <a:r>
              <a:rPr lang="en-IN" sz="1800" dirty="0">
                <a:latin typeface="Times New Roman" panose="02020603050405020304" pitchFamily="18" charset="0"/>
                <a:cs typeface="Times New Roman" panose="02020603050405020304" pitchFamily="18" charset="0"/>
              </a:rPr>
              <a:t>_</a:t>
            </a:r>
            <a:r>
              <a:rPr sz="1800" dirty="0">
                <a:latin typeface="Times New Roman" panose="02020603050405020304" pitchFamily="18" charset="0"/>
                <a:cs typeface="Times New Roman" panose="02020603050405020304" pitchFamily="18" charset="0"/>
              </a:rPr>
              <a:t>ID (PK), Supplier</a:t>
            </a:r>
            <a:r>
              <a:rPr lang="en-IN" sz="1800" dirty="0">
                <a:latin typeface="Times New Roman" panose="02020603050405020304" pitchFamily="18" charset="0"/>
                <a:cs typeface="Times New Roman" panose="02020603050405020304" pitchFamily="18" charset="0"/>
              </a:rPr>
              <a:t>_</a:t>
            </a:r>
            <a:r>
              <a:rPr sz="1800" dirty="0">
                <a:latin typeface="Times New Roman" panose="02020603050405020304" pitchFamily="18" charset="0"/>
                <a:cs typeface="Times New Roman" panose="02020603050405020304" pitchFamily="18" charset="0"/>
              </a:rPr>
              <a:t>Name, Phone, Email, Address</a:t>
            </a:r>
            <a:br>
              <a:rPr dirty="0">
                <a:latin typeface="Times New Roman" panose="02020603050405020304" pitchFamily="18" charset="0"/>
                <a:cs typeface="Times New Roman" panose="02020603050405020304" pitchFamily="18" charset="0"/>
              </a:rPr>
            </a:br>
            <a:r>
              <a:rPr sz="1800" dirty="0">
                <a:latin typeface="Times New Roman" panose="02020603050405020304" pitchFamily="18" charset="0"/>
                <a:cs typeface="Times New Roman" panose="02020603050405020304" pitchFamily="18" charset="0"/>
              </a:rPr>
              <a:t>CUSTOMER: Customer</a:t>
            </a:r>
            <a:r>
              <a:rPr lang="en-IN" sz="1800" dirty="0">
                <a:latin typeface="Times New Roman" panose="02020603050405020304" pitchFamily="18" charset="0"/>
                <a:cs typeface="Times New Roman" panose="02020603050405020304" pitchFamily="18" charset="0"/>
              </a:rPr>
              <a:t>_</a:t>
            </a:r>
            <a:r>
              <a:rPr sz="1800" dirty="0">
                <a:latin typeface="Times New Roman" panose="02020603050405020304" pitchFamily="18" charset="0"/>
                <a:cs typeface="Times New Roman" panose="02020603050405020304" pitchFamily="18" charset="0"/>
              </a:rPr>
              <a:t>ID (PK), Customer</a:t>
            </a:r>
            <a:r>
              <a:rPr lang="en-IN" sz="1800" dirty="0">
                <a:latin typeface="Times New Roman" panose="02020603050405020304" pitchFamily="18" charset="0"/>
                <a:cs typeface="Times New Roman" panose="02020603050405020304" pitchFamily="18" charset="0"/>
              </a:rPr>
              <a:t>_</a:t>
            </a:r>
            <a:r>
              <a:rPr sz="1800" dirty="0">
                <a:latin typeface="Times New Roman" panose="02020603050405020304" pitchFamily="18" charset="0"/>
                <a:cs typeface="Times New Roman" panose="02020603050405020304" pitchFamily="18" charset="0"/>
              </a:rPr>
              <a:t>Name, Phone, Email, Address</a:t>
            </a:r>
            <a:br>
              <a:rPr dirty="0">
                <a:latin typeface="Times New Roman" panose="02020603050405020304" pitchFamily="18" charset="0"/>
                <a:cs typeface="Times New Roman" panose="02020603050405020304" pitchFamily="18" charset="0"/>
              </a:rPr>
            </a:br>
            <a:r>
              <a:rPr sz="1800" dirty="0">
                <a:latin typeface="Times New Roman" panose="02020603050405020304" pitchFamily="18" charset="0"/>
                <a:cs typeface="Times New Roman" panose="02020603050405020304" pitchFamily="18" charset="0"/>
              </a:rPr>
              <a:t>ORDERS: Order</a:t>
            </a:r>
            <a:r>
              <a:rPr lang="en-IN" sz="1800" dirty="0">
                <a:latin typeface="Times New Roman" panose="02020603050405020304" pitchFamily="18" charset="0"/>
                <a:cs typeface="Times New Roman" panose="02020603050405020304" pitchFamily="18" charset="0"/>
              </a:rPr>
              <a:t>_</a:t>
            </a:r>
            <a:r>
              <a:rPr sz="1800" dirty="0">
                <a:latin typeface="Times New Roman" panose="02020603050405020304" pitchFamily="18" charset="0"/>
                <a:cs typeface="Times New Roman" panose="02020603050405020304" pitchFamily="18" charset="0"/>
              </a:rPr>
              <a:t>ID (PK), Customer</a:t>
            </a:r>
            <a:r>
              <a:rPr lang="en-IN" sz="1800" dirty="0">
                <a:latin typeface="Times New Roman" panose="02020603050405020304" pitchFamily="18" charset="0"/>
                <a:cs typeface="Times New Roman" panose="02020603050405020304" pitchFamily="18" charset="0"/>
              </a:rPr>
              <a:t>_</a:t>
            </a:r>
            <a:r>
              <a:rPr sz="1800" dirty="0">
                <a:latin typeface="Times New Roman" panose="02020603050405020304" pitchFamily="18" charset="0"/>
                <a:cs typeface="Times New Roman" panose="02020603050405020304" pitchFamily="18" charset="0"/>
              </a:rPr>
              <a:t>ID (FK), Order</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Date, Total</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Amount, Payment</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Status</a:t>
            </a:r>
            <a:br>
              <a:rPr dirty="0">
                <a:latin typeface="Times New Roman" panose="02020603050405020304" pitchFamily="18" charset="0"/>
                <a:cs typeface="Times New Roman" panose="02020603050405020304" pitchFamily="18" charset="0"/>
              </a:rPr>
            </a:br>
            <a:r>
              <a:rPr sz="1800" dirty="0">
                <a:latin typeface="Times New Roman" panose="02020603050405020304" pitchFamily="18" charset="0"/>
                <a:cs typeface="Times New Roman" panose="02020603050405020304" pitchFamily="18" charset="0"/>
              </a:rPr>
              <a:t>ORDER_DETAILS: Order</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Detail</a:t>
            </a:r>
            <a:r>
              <a:rPr lang="en-IN" sz="1800" dirty="0">
                <a:latin typeface="Times New Roman" panose="02020603050405020304" pitchFamily="18" charset="0"/>
                <a:cs typeface="Times New Roman" panose="02020603050405020304" pitchFamily="18" charset="0"/>
              </a:rPr>
              <a:t>_</a:t>
            </a:r>
            <a:r>
              <a:rPr sz="1800" dirty="0">
                <a:latin typeface="Times New Roman" panose="02020603050405020304" pitchFamily="18" charset="0"/>
                <a:cs typeface="Times New Roman" panose="02020603050405020304" pitchFamily="18" charset="0"/>
              </a:rPr>
              <a:t>ID (PK), Order</a:t>
            </a:r>
            <a:r>
              <a:rPr lang="en-IN" sz="1800" dirty="0">
                <a:latin typeface="Times New Roman" panose="02020603050405020304" pitchFamily="18" charset="0"/>
                <a:cs typeface="Times New Roman" panose="02020603050405020304" pitchFamily="18" charset="0"/>
              </a:rPr>
              <a:t>_</a:t>
            </a:r>
            <a:r>
              <a:rPr sz="1800" dirty="0">
                <a:latin typeface="Times New Roman" panose="02020603050405020304" pitchFamily="18" charset="0"/>
                <a:cs typeface="Times New Roman" panose="02020603050405020304" pitchFamily="18" charset="0"/>
              </a:rPr>
              <a:t>ID (FK), Wine</a:t>
            </a:r>
            <a:r>
              <a:rPr lang="en-IN" sz="1800" dirty="0">
                <a:latin typeface="Times New Roman" panose="02020603050405020304" pitchFamily="18" charset="0"/>
                <a:cs typeface="Times New Roman" panose="02020603050405020304" pitchFamily="18" charset="0"/>
              </a:rPr>
              <a:t>_</a:t>
            </a:r>
            <a:r>
              <a:rPr sz="1800" dirty="0">
                <a:latin typeface="Times New Roman" panose="02020603050405020304" pitchFamily="18" charset="0"/>
                <a:cs typeface="Times New Roman" panose="02020603050405020304" pitchFamily="18" charset="0"/>
              </a:rPr>
              <a:t>ID (</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FK), Quantity, Unit</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Price</a:t>
            </a:r>
            <a:br>
              <a:rPr dirty="0">
                <a:latin typeface="Times New Roman" panose="02020603050405020304" pitchFamily="18" charset="0"/>
                <a:cs typeface="Times New Roman" panose="02020603050405020304" pitchFamily="18" charset="0"/>
              </a:rPr>
            </a:br>
            <a:r>
              <a:rPr sz="1800" dirty="0">
                <a:latin typeface="Times New Roman" panose="02020603050405020304" pitchFamily="18" charset="0"/>
                <a:cs typeface="Times New Roman" panose="02020603050405020304" pitchFamily="18" charset="0"/>
              </a:rPr>
              <a:t>INVENTORY: Inventory</a:t>
            </a:r>
            <a:r>
              <a:rPr lang="en-IN" sz="1800" dirty="0">
                <a:latin typeface="Times New Roman" panose="02020603050405020304" pitchFamily="18" charset="0"/>
                <a:cs typeface="Times New Roman" panose="02020603050405020304" pitchFamily="18" charset="0"/>
              </a:rPr>
              <a:t>_</a:t>
            </a:r>
            <a:r>
              <a:rPr sz="1800" dirty="0">
                <a:latin typeface="Times New Roman" panose="02020603050405020304" pitchFamily="18" charset="0"/>
                <a:cs typeface="Times New Roman" panose="02020603050405020304" pitchFamily="18" charset="0"/>
              </a:rPr>
              <a:t>ID (PK), Wine</a:t>
            </a:r>
            <a:r>
              <a:rPr lang="en-IN" sz="1800" dirty="0">
                <a:latin typeface="Times New Roman" panose="02020603050405020304" pitchFamily="18" charset="0"/>
                <a:cs typeface="Times New Roman" panose="02020603050405020304" pitchFamily="18" charset="0"/>
              </a:rPr>
              <a:t>_</a:t>
            </a:r>
            <a:r>
              <a:rPr sz="1800" dirty="0">
                <a:latin typeface="Times New Roman" panose="02020603050405020304" pitchFamily="18" charset="0"/>
                <a:cs typeface="Times New Roman" panose="02020603050405020304" pitchFamily="18" charset="0"/>
              </a:rPr>
              <a:t>ID (FK), Stock</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Quantity, Reorder</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Level, Last</a:t>
            </a: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Updated</a:t>
            </a:r>
            <a:endParaRPr lang="en-US" sz="1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pic>
        <p:nvPicPr>
          <p:cNvPr id="29" name="Picture 5"/>
          <p:cNvPicPr/>
          <p:nvPr/>
        </p:nvPicPr>
        <p:blipFill>
          <a:blip/>
          <a:stretch/>
        </p:blipFill>
        <p:spPr>
          <a:xfrm>
            <a:off x="11290320" y="0"/>
            <a:ext cx="901800" cy="993600"/>
          </a:xfrm>
          <a:prstGeom prst="rect">
            <a:avLst/>
          </a:prstGeom>
          <a:noFill/>
          <a:ln w="0">
            <a:noFill/>
          </a:ln>
        </p:spPr>
      </p:pic>
      <p:sp>
        <p:nvSpPr>
          <p:cNvPr id="30" name="Rounded Rectangle 4"/>
          <p:cNvSpPr/>
          <p:nvPr/>
        </p:nvSpPr>
        <p:spPr>
          <a:xfrm>
            <a:off x="-15840" y="-109440"/>
            <a:ext cx="1220796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1" name="Rectangle 4"/>
          <p:cNvSpPr/>
          <p:nvPr/>
        </p:nvSpPr>
        <p:spPr>
          <a:xfrm>
            <a:off x="11261880" y="270000"/>
            <a:ext cx="914400" cy="723600"/>
          </a:xfrm>
          <a:prstGeom prst="rect">
            <a:avLst/>
          </a:prstGeom>
          <a:solidFill>
            <a:srgbClr val="FFFFFF"/>
          </a:solidFill>
          <a:ln w="12600">
            <a:solidFill>
              <a:srgbClr val="FFFFFF"/>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pic>
        <p:nvPicPr>
          <p:cNvPr id="7" name="Picture 7">
            <a:extLst>
              <a:ext uri="{FF2B5EF4-FFF2-40B4-BE49-F238E27FC236}">
                <a16:creationId xmlns:a16="http://schemas.microsoft.com/office/drawing/2014/main" id="{7E0CDA23-600A-B66F-A6EE-232C6F4CADFC}"/>
              </a:ext>
            </a:extLst>
          </p:cNvPr>
          <p:cNvPicPr/>
          <p:nvPr/>
        </p:nvPicPr>
        <p:blipFill>
          <a:blip r:embed="rId2"/>
          <a:stretch/>
        </p:blipFill>
        <p:spPr>
          <a:xfrm>
            <a:off x="10556820" y="95040"/>
            <a:ext cx="1467000" cy="898560"/>
          </a:xfrm>
          <a:prstGeom prst="rect">
            <a:avLst/>
          </a:prstGeom>
          <a:noFill/>
          <a:ln w="0">
            <a:noFill/>
          </a:ln>
        </p:spPr>
      </p:pic>
      <p:sp>
        <p:nvSpPr>
          <p:cNvPr id="10" name="Rounded Rectangle 4">
            <a:extLst>
              <a:ext uri="{FF2B5EF4-FFF2-40B4-BE49-F238E27FC236}">
                <a16:creationId xmlns:a16="http://schemas.microsoft.com/office/drawing/2014/main" id="{34C89AAC-915F-BE81-E276-D58B10112674}"/>
              </a:ext>
            </a:extLst>
          </p:cNvPr>
          <p:cNvSpPr/>
          <p:nvPr/>
        </p:nvSpPr>
        <p:spPr>
          <a:xfrm>
            <a:off x="0" y="6477120"/>
            <a:ext cx="1219212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a:t>B.Tech – Database Systems Engineering | Project Review</a:t>
            </a:r>
            <a:endParaRPr lang="en-US" sz="1600" b="0" u="none" strike="noStrike">
              <a:solidFill>
                <a:srgbClr val="000000"/>
              </a:solidFill>
              <a:effectLst/>
              <a:uFillTx/>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60" y="1610460"/>
            <a:ext cx="10515600" cy="1325520"/>
          </a:xfrm>
        </p:spPr>
        <p:txBody>
          <a:bodyPr/>
          <a:lstStyle/>
          <a:p>
            <a:r>
              <a:rPr sz="2800" b="1" dirty="0">
                <a:latin typeface="Times New Roman" panose="02020603050405020304" pitchFamily="18" charset="0"/>
                <a:cs typeface="Times New Roman" panose="02020603050405020304" pitchFamily="18" charset="0"/>
              </a:rPr>
              <a:t>Relationships &amp; SQL Operations</a:t>
            </a:r>
          </a:p>
        </p:txBody>
      </p:sp>
      <p:sp>
        <p:nvSpPr>
          <p:cNvPr id="28" name="Slide Number Placeholder 2"/>
          <p:cNvSpPr/>
          <p:nvPr/>
        </p:nvSpPr>
        <p:spPr>
          <a:xfrm>
            <a:off x="1634491" y="3552840"/>
            <a:ext cx="8414077" cy="36504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800" dirty="0">
                <a:latin typeface="Times New Roman" panose="02020603050405020304" pitchFamily="18" charset="0"/>
                <a:cs typeface="Times New Roman" panose="02020603050405020304" pitchFamily="18" charset="0"/>
              </a:rPr>
              <a:t>• SUPPLIER 1:M WINE</a:t>
            </a:r>
            <a:br>
              <a:rPr dirty="0">
                <a:latin typeface="Times New Roman" panose="02020603050405020304" pitchFamily="18" charset="0"/>
                <a:cs typeface="Times New Roman" panose="02020603050405020304" pitchFamily="18" charset="0"/>
              </a:rPr>
            </a:br>
            <a:r>
              <a:rPr sz="1800" dirty="0">
                <a:latin typeface="Times New Roman" panose="02020603050405020304" pitchFamily="18" charset="0"/>
                <a:cs typeface="Times New Roman" panose="02020603050405020304" pitchFamily="18" charset="0"/>
              </a:rPr>
              <a:t>• CUSTOMER 1:M ORDERS</a:t>
            </a:r>
            <a:br>
              <a:rPr dirty="0">
                <a:latin typeface="Times New Roman" panose="02020603050405020304" pitchFamily="18" charset="0"/>
                <a:cs typeface="Times New Roman" panose="02020603050405020304" pitchFamily="18" charset="0"/>
              </a:rPr>
            </a:br>
            <a:r>
              <a:rPr sz="1800" dirty="0">
                <a:latin typeface="Times New Roman" panose="02020603050405020304" pitchFamily="18" charset="0"/>
                <a:cs typeface="Times New Roman" panose="02020603050405020304" pitchFamily="18" charset="0"/>
              </a:rPr>
              <a:t>• ORDERS 1:M ORDER_DETAILS</a:t>
            </a:r>
            <a:br>
              <a:rPr dirty="0">
                <a:latin typeface="Times New Roman" panose="02020603050405020304" pitchFamily="18" charset="0"/>
                <a:cs typeface="Times New Roman" panose="02020603050405020304" pitchFamily="18" charset="0"/>
              </a:rPr>
            </a:br>
            <a:r>
              <a:rPr sz="1800" dirty="0">
                <a:latin typeface="Times New Roman" panose="02020603050405020304" pitchFamily="18" charset="0"/>
                <a:cs typeface="Times New Roman" panose="02020603050405020304" pitchFamily="18" charset="0"/>
              </a:rPr>
              <a:t>• WINE 1:M ORDER_DETAILS</a:t>
            </a:r>
            <a:br>
              <a:rPr dirty="0">
                <a:latin typeface="Times New Roman" panose="02020603050405020304" pitchFamily="18" charset="0"/>
                <a:cs typeface="Times New Roman" panose="02020603050405020304" pitchFamily="18" charset="0"/>
              </a:rPr>
            </a:br>
            <a:r>
              <a:rPr sz="1800" dirty="0">
                <a:latin typeface="Times New Roman" panose="02020603050405020304" pitchFamily="18" charset="0"/>
                <a:cs typeface="Times New Roman" panose="02020603050405020304" pitchFamily="18" charset="0"/>
              </a:rPr>
              <a:t>• SQL: CREATE, INSERT, SELECT, UPDATE, DELETE</a:t>
            </a:r>
            <a:br>
              <a:rPr dirty="0">
                <a:latin typeface="Times New Roman" panose="02020603050405020304" pitchFamily="18" charset="0"/>
                <a:cs typeface="Times New Roman" panose="02020603050405020304" pitchFamily="18" charset="0"/>
              </a:rPr>
            </a:br>
            <a:r>
              <a:rPr sz="1800" dirty="0">
                <a:latin typeface="Times New Roman" panose="02020603050405020304" pitchFamily="18" charset="0"/>
                <a:cs typeface="Times New Roman" panose="02020603050405020304" pitchFamily="18" charset="0"/>
              </a:rPr>
              <a:t>• JOIN, WHERE, ORDER BY, SUM, COUNT, AVG and TRANSACTIONS</a:t>
            </a:r>
            <a:endParaRPr lang="en-US" sz="1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pic>
        <p:nvPicPr>
          <p:cNvPr id="29" name="Picture 5"/>
          <p:cNvPicPr/>
          <p:nvPr/>
        </p:nvPicPr>
        <p:blipFill>
          <a:blip/>
          <a:stretch/>
        </p:blipFill>
        <p:spPr>
          <a:xfrm>
            <a:off x="11290320" y="0"/>
            <a:ext cx="901800" cy="993600"/>
          </a:xfrm>
          <a:prstGeom prst="rect">
            <a:avLst/>
          </a:prstGeom>
          <a:noFill/>
          <a:ln w="0">
            <a:noFill/>
          </a:ln>
        </p:spPr>
      </p:pic>
      <p:sp>
        <p:nvSpPr>
          <p:cNvPr id="30" name="Rounded Rectangle 4"/>
          <p:cNvSpPr/>
          <p:nvPr/>
        </p:nvSpPr>
        <p:spPr>
          <a:xfrm>
            <a:off x="-15840" y="-109440"/>
            <a:ext cx="1220796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1" name="Rectangle 4"/>
          <p:cNvSpPr/>
          <p:nvPr/>
        </p:nvSpPr>
        <p:spPr>
          <a:xfrm>
            <a:off x="11261880" y="270000"/>
            <a:ext cx="914400" cy="723600"/>
          </a:xfrm>
          <a:prstGeom prst="rect">
            <a:avLst/>
          </a:prstGeom>
          <a:solidFill>
            <a:srgbClr val="FFFFFF"/>
          </a:solidFill>
          <a:ln w="12600">
            <a:solidFill>
              <a:srgbClr val="FFFFFF"/>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pic>
        <p:nvPicPr>
          <p:cNvPr id="7" name="Picture 7">
            <a:extLst>
              <a:ext uri="{FF2B5EF4-FFF2-40B4-BE49-F238E27FC236}">
                <a16:creationId xmlns:a16="http://schemas.microsoft.com/office/drawing/2014/main" id="{910F58CE-C8D7-0409-9C5E-B48A338C1465}"/>
              </a:ext>
            </a:extLst>
          </p:cNvPr>
          <p:cNvPicPr/>
          <p:nvPr/>
        </p:nvPicPr>
        <p:blipFill>
          <a:blip r:embed="rId2"/>
          <a:stretch/>
        </p:blipFill>
        <p:spPr>
          <a:xfrm>
            <a:off x="10493280" y="0"/>
            <a:ext cx="1467000" cy="898560"/>
          </a:xfrm>
          <a:prstGeom prst="rect">
            <a:avLst/>
          </a:prstGeom>
          <a:noFill/>
          <a:ln w="0">
            <a:noFill/>
          </a:ln>
        </p:spPr>
      </p:pic>
      <p:sp>
        <p:nvSpPr>
          <p:cNvPr id="10" name="Rounded Rectangle 4">
            <a:extLst>
              <a:ext uri="{FF2B5EF4-FFF2-40B4-BE49-F238E27FC236}">
                <a16:creationId xmlns:a16="http://schemas.microsoft.com/office/drawing/2014/main" id="{4A7DD60C-F324-326E-1B3C-C0FD5F99F1F8}"/>
              </a:ext>
            </a:extLst>
          </p:cNvPr>
          <p:cNvSpPr/>
          <p:nvPr/>
        </p:nvSpPr>
        <p:spPr>
          <a:xfrm>
            <a:off x="0" y="6477120"/>
            <a:ext cx="1219212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a:t>B.Tech – Database Systems Engineering | Project Review</a:t>
            </a:r>
            <a:endParaRPr lang="en-US" sz="1600" b="0" u="none" strike="noStrike">
              <a:solidFill>
                <a:srgbClr val="000000"/>
              </a:solidFill>
              <a:effectLst/>
              <a:uFillTx/>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60" y="1904377"/>
            <a:ext cx="10515600" cy="1325520"/>
          </a:xfrm>
        </p:spPr>
        <p:txBody>
          <a:bodyPr/>
          <a:lstStyle/>
          <a:p>
            <a:r>
              <a:rPr sz="2800" b="1" dirty="0">
                <a:latin typeface="Times New Roman" panose="02020603050405020304" pitchFamily="18" charset="0"/>
                <a:cs typeface="Times New Roman" panose="02020603050405020304" pitchFamily="18" charset="0"/>
              </a:rPr>
              <a:t>Software, Conclusion &amp; Future Scope</a:t>
            </a:r>
          </a:p>
        </p:txBody>
      </p:sp>
      <p:sp>
        <p:nvSpPr>
          <p:cNvPr id="28" name="Slide Number Placeholder 2"/>
          <p:cNvSpPr/>
          <p:nvPr/>
        </p:nvSpPr>
        <p:spPr>
          <a:xfrm>
            <a:off x="1015060" y="3628103"/>
            <a:ext cx="8797533" cy="2281084"/>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800" dirty="0">
                <a:latin typeface="Times New Roman" panose="02020603050405020304" pitchFamily="18" charset="0"/>
                <a:cs typeface="Times New Roman" panose="02020603050405020304" pitchFamily="18" charset="0"/>
              </a:rPr>
              <a:t>Software / Platforms: MySQL, SQL, MySQL Workbench and ER Diagram.</a:t>
            </a:r>
            <a:br>
              <a:rPr dirty="0">
                <a:latin typeface="Times New Roman" panose="02020603050405020304" pitchFamily="18" charset="0"/>
                <a:cs typeface="Times New Roman" panose="02020603050405020304" pitchFamily="18" charset="0"/>
              </a:rPr>
            </a:br>
            <a:r>
              <a:rPr sz="1800" dirty="0">
                <a:latin typeface="Times New Roman" panose="02020603050405020304" pitchFamily="18" charset="0"/>
                <a:cs typeface="Times New Roman" panose="02020603050405020304" pitchFamily="18" charset="0"/>
              </a:rPr>
              <a:t>The system reduces redundancy, improves consistency and provides organized access to management information.</a:t>
            </a:r>
            <a:br>
              <a:rPr dirty="0">
                <a:latin typeface="Times New Roman" panose="02020603050405020304" pitchFamily="18" charset="0"/>
                <a:cs typeface="Times New Roman" panose="02020603050405020304" pitchFamily="18" charset="0"/>
              </a:rPr>
            </a:br>
            <a:r>
              <a:rPr sz="1800" dirty="0">
                <a:latin typeface="Times New Roman" panose="02020603050405020304" pitchFamily="18" charset="0"/>
                <a:cs typeface="Times New Roman" panose="02020603050405020304" pitchFamily="18" charset="0"/>
              </a:rPr>
              <a:t>Future scope: web interface, authentication, automated low-stock alerts, dashboards and online payment integration.</a:t>
            </a:r>
            <a:endParaRPr lang="en-IN" sz="1800" dirty="0">
              <a:latin typeface="Times New Roman" panose="02020603050405020304" pitchFamily="18" charset="0"/>
              <a:cs typeface="Times New Roman" panose="02020603050405020304" pitchFamily="18"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dirty="0"/>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dirty="0"/>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dirty="0"/>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dirty="0"/>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dirty="0"/>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br>
              <a:rPr dirty="0"/>
            </a:br>
            <a:endParaRPr lang="en-US" sz="1200" b="0" u="none" strike="noStrike" dirty="0">
              <a:solidFill>
                <a:srgbClr val="000000"/>
              </a:solidFill>
              <a:effectLst/>
              <a:uFillTx/>
              <a:latin typeface="Calibri"/>
            </a:endParaRPr>
          </a:p>
        </p:txBody>
      </p:sp>
      <p:pic>
        <p:nvPicPr>
          <p:cNvPr id="29" name="Picture 5"/>
          <p:cNvPicPr/>
          <p:nvPr/>
        </p:nvPicPr>
        <p:blipFill>
          <a:blip/>
          <a:stretch/>
        </p:blipFill>
        <p:spPr>
          <a:xfrm>
            <a:off x="11290320" y="0"/>
            <a:ext cx="901800" cy="993600"/>
          </a:xfrm>
          <a:prstGeom prst="rect">
            <a:avLst/>
          </a:prstGeom>
          <a:noFill/>
          <a:ln w="0">
            <a:noFill/>
          </a:ln>
        </p:spPr>
      </p:pic>
      <p:sp>
        <p:nvSpPr>
          <p:cNvPr id="30" name="Rounded Rectangle 4"/>
          <p:cNvSpPr/>
          <p:nvPr/>
        </p:nvSpPr>
        <p:spPr>
          <a:xfrm>
            <a:off x="-15840" y="-109440"/>
            <a:ext cx="1220796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1" name="Rectangle 4"/>
          <p:cNvSpPr/>
          <p:nvPr/>
        </p:nvSpPr>
        <p:spPr>
          <a:xfrm>
            <a:off x="11261880" y="270000"/>
            <a:ext cx="914400" cy="723600"/>
          </a:xfrm>
          <a:prstGeom prst="rect">
            <a:avLst/>
          </a:prstGeom>
          <a:solidFill>
            <a:srgbClr val="FFFFFF"/>
          </a:solidFill>
          <a:ln w="12600">
            <a:solidFill>
              <a:srgbClr val="FFFFFF"/>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pic>
        <p:nvPicPr>
          <p:cNvPr id="9" name="Picture 7">
            <a:extLst>
              <a:ext uri="{FF2B5EF4-FFF2-40B4-BE49-F238E27FC236}">
                <a16:creationId xmlns:a16="http://schemas.microsoft.com/office/drawing/2014/main" id="{E3F6203C-263A-6A74-8273-B9ABF3A21830}"/>
              </a:ext>
            </a:extLst>
          </p:cNvPr>
          <p:cNvPicPr/>
          <p:nvPr/>
        </p:nvPicPr>
        <p:blipFill>
          <a:blip r:embed="rId2"/>
          <a:stretch/>
        </p:blipFill>
        <p:spPr>
          <a:xfrm>
            <a:off x="10493280" y="0"/>
            <a:ext cx="1467000" cy="898560"/>
          </a:xfrm>
          <a:prstGeom prst="rect">
            <a:avLst/>
          </a:prstGeom>
          <a:noFill/>
          <a:ln w="0">
            <a:noFill/>
          </a:ln>
        </p:spPr>
      </p:pic>
      <p:sp>
        <p:nvSpPr>
          <p:cNvPr id="11" name="Rounded Rectangle 4">
            <a:extLst>
              <a:ext uri="{FF2B5EF4-FFF2-40B4-BE49-F238E27FC236}">
                <a16:creationId xmlns:a16="http://schemas.microsoft.com/office/drawing/2014/main" id="{044F9CF0-21DE-47AB-7351-ACF893C0DA00}"/>
              </a:ext>
            </a:extLst>
          </p:cNvPr>
          <p:cNvSpPr/>
          <p:nvPr/>
        </p:nvSpPr>
        <p:spPr>
          <a:xfrm>
            <a:off x="1468" y="6484185"/>
            <a:ext cx="1219212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dirty="0" err="1"/>
              <a:t>B.Tech</a:t>
            </a:r>
            <a:r>
              <a:rPr sz="1400" dirty="0"/>
              <a:t> – Database Systems Engineering | Project Review</a:t>
            </a:r>
            <a:endParaRPr lang="en-US" sz="1600" b="0" u="none" strike="noStrike" dirty="0">
              <a:solidFill>
                <a:srgbClr val="000000"/>
              </a:solidFill>
              <a:effectLst/>
              <a:uFillTx/>
              <a:latin typeface="Calibri"/>
            </a:endParaRP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TotalTime>
  <Words>740</Words>
  <Application>Microsoft Office PowerPoint</Application>
  <PresentationFormat>Custom</PresentationFormat>
  <Paragraphs>47</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Arial Rounded MT Bold</vt:lpstr>
      <vt:lpstr>Calibri</vt:lpstr>
      <vt:lpstr>Calibri Light</vt:lpstr>
      <vt:lpstr>Times New Roman</vt:lpstr>
      <vt:lpstr>Office</vt:lpstr>
      <vt:lpstr>PowerPoint Presentation</vt:lpstr>
      <vt:lpstr> Agenda</vt:lpstr>
      <vt:lpstr>Abstract</vt:lpstr>
      <vt:lpstr>Introduction</vt:lpstr>
      <vt:lpstr>Problem Statement &amp; Objectives</vt:lpstr>
      <vt:lpstr>Database Design</vt:lpstr>
      <vt:lpstr>Relationships &amp; SQL Operations</vt:lpstr>
      <vt:lpstr>Software, Conclusion &amp; Future Scope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VENU GOPAL</cp:lastModifiedBy>
  <cp:revision>1</cp:revision>
  <dcterms:modified xsi:type="dcterms:W3CDTF">2026-08-26T06:11:28Z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2022-09-15T14:17:00Z</dcterms:created>
  <dc:creator>M V Kamal</dc:creator>
  <dc:description/>
  <dc:language>en-US</dc:language>
  <cp:lastModifiedBy>USER</cp:lastModifiedBy>
  <dcterms:modified xsi:type="dcterms:W3CDTF">2026-08-26T04:18:44Z</dcterms:modified>
  <cp:revision>50</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CA684AD55E314E5EB50F5E4221BF87A5_13</vt:lpwstr>
  </property>
  <property fmtid="{D5CDD505-2E9C-101B-9397-08002B2CF9AE}" pid="3" name="KSOProductBuildVer">
    <vt:lpwstr>1033-12.1.0.28032</vt:lpwstr>
  </property>
</Properties>
</file>